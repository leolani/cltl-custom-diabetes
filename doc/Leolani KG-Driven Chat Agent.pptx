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how the agent is put together, the conversational strategies it uses to decide what to ask, and a live example with 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32A3E"/>
              </a:gs>
              <a:gs pos="55000">
                <a:srgbClr val="1B3A54"/>
              </a:gs>
              <a:gs pos="100000">
                <a:srgbClr val="2E86AB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1212850"/>
            <a:ext cx="1088339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Knowledge-Graph-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Driven Chat Agent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2851150"/>
            <a:ext cx="7848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Grounding a lifestyle-coaching conversation in a living knowledge graph — architecture, conversational strategies, and a live example.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56235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Piek Vossen — Vrije Universiteit Amsterdam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5835650"/>
            <a:ext cx="132784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cltl-kg-driven-chat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48055" y="5835650"/>
            <a:ext cx="240107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2 diabetes self-management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AGENT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coach that remembers, not just a chatbot that replies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5902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565400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diary construction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870200"/>
            <a:ext cx="305656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turn is turned into semantic-role triples and pushed into a knowledge graph — a persistent, queryable record of what the person actually did and felt.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809" y="235902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184" y="2565400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graph drives the dialogue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2184" y="2870200"/>
            <a:ext cx="305656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still missing in the graph — not a fixed script — decides the agent's next question, so the conversation stays grounded in this person's own history.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42" y="235902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017" y="2565400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for Type 2 diabetes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02017" y="2870200"/>
            <a:ext cx="305656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Diet, exercise, sleep, mood, medication and symptoms — everyday factors that shape blood-sugar management, tracked over time, not just one session.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2989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on structured-diary and synthetic-dialogue work for functioning &amp; well-being monitoring — see References.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HIGH-LEVEL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pipelines, one shared 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5475"/>
            <a:ext cx="1700510" cy="15875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  <a:effectLst>
            <a:outerShdw sx="100000" sy="100000" kx="0" ky="0" algn="bl" rotWithShape="0" blurRad="50800" dist="12700" dir="5400000">
              <a:srgbClr val="132A3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1550" y="2051050"/>
            <a:ext cx="14401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turn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1550" y="2311400"/>
            <a:ext cx="14401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person says this turn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21260" y="2606675"/>
            <a:ext cx="304800" cy="165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30835" y="1895475"/>
            <a:ext cx="1700510" cy="15875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  <a:effectLst>
            <a:outerShdw sx="100000" sy="100000" kx="0" ky="0" algn="bl" rotWithShape="0" blurRad="50800" dist="12700" dir="5400000">
              <a:srgbClr val="132A3E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86410" y="2051050"/>
            <a:ext cx="14401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SRL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86410" y="2311400"/>
            <a:ext cx="14401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events_from_chat/ — an LLM tags agent, patient, time, location, qualification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36120" y="2606675"/>
            <a:ext cx="304800" cy="1651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45695" y="1895475"/>
            <a:ext cx="1700510" cy="1587500"/>
          </a:xfrm>
          <a:prstGeom prst="roundRect">
            <a:avLst>
              <a:gd name="adj" fmla="val 6200"/>
            </a:avLst>
          </a:prstGeom>
          <a:solidFill>
            <a:srgbClr val="132A3E"/>
          </a:solidFill>
          <a:ln w="6350">
            <a:solidFill>
              <a:srgbClr val="132A3E"/>
            </a:solidFill>
            <a:prstDash val="solid"/>
          </a:ln>
          <a:effectLst>
            <a:outerShdw sx="100000" sy="100000" kx="0" ky="0" algn="bl" rotWithShape="0" blurRad="50800" dist="12700" dir="5400000">
              <a:srgbClr val="132A3E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01270" y="2051050"/>
            <a:ext cx="14401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01270" y="2311400"/>
            <a:ext cx="14401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GraphDB — n2mu role predicates, SEM-ontology aligned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0980" y="2606675"/>
            <a:ext cx="304800" cy="1651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60555" y="1895475"/>
            <a:ext cx="1700510" cy="15875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  <a:effectLst>
            <a:outerShdw sx="100000" sy="100000" kx="0" ky="0" algn="bl" rotWithShape="0" blurRad="50800" dist="12700" dir="5400000">
              <a:srgbClr val="132A3E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616130" y="2051050"/>
            <a:ext cx="14401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finding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616130" y="2311400"/>
            <a:ext cx="14401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chat_from_kg/ — what's still missing for this activity?</a:t>
            </a:r>
            <a:endParaRPr lang="en-US" sz="12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5841" y="2606675"/>
            <a:ext cx="304800" cy="1651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75416" y="1895475"/>
            <a:ext cx="1700510" cy="15875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  <a:effectLst>
            <a:outerShdw sx="100000" sy="100000" kx="0" ky="0" algn="bl" rotWithShape="0" blurRad="50800" dist="12700" dir="5400000">
              <a:srgbClr val="132A3E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830991" y="2051050"/>
            <a:ext cx="14401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turn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830991" y="2311400"/>
            <a:ext cx="14401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natural-language follow-up question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2800" y="37909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Repeats every turn — the graph accumulates across the whole conversation, not just one exchange.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12800" y="4305300"/>
            <a:ext cx="3454400" cy="889000"/>
          </a:xfrm>
          <a:prstGeom prst="roundRect">
            <a:avLst>
              <a:gd name="adj" fmla="val 8571"/>
            </a:avLst>
          </a:prstGeom>
          <a:solidFill>
            <a:srgbClr val="EFF3F4"/>
          </a:solidFill>
          <a:ln/>
        </p:spPr>
      </p:sp>
      <p:sp>
        <p:nvSpPr>
          <p:cNvPr id="25" name="Text 19"/>
          <p:cNvSpPr/>
          <p:nvPr/>
        </p:nvSpPr>
        <p:spPr>
          <a:xfrm>
            <a:off x="965200" y="4432300"/>
            <a:ext cx="324408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chat_sessions.py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5200" y="4648200"/>
            <a:ext cx="32440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Orchestrates every turn — ChatSession → KgChatSession → KgIntentChatSession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68800" y="4305300"/>
            <a:ext cx="3454400" cy="889000"/>
          </a:xfrm>
          <a:prstGeom prst="roundRect">
            <a:avLst>
              <a:gd name="adj" fmla="val 8571"/>
            </a:avLst>
          </a:prstGeom>
          <a:solidFill>
            <a:srgbClr val="EFF3F4"/>
          </a:solidFill>
          <a:ln/>
        </p:spPr>
      </p:sp>
      <p:sp>
        <p:nvSpPr>
          <p:cNvPr id="28" name="Text 22"/>
          <p:cNvSpPr/>
          <p:nvPr/>
        </p:nvSpPr>
        <p:spPr>
          <a:xfrm>
            <a:off x="4521200" y="4432300"/>
            <a:ext cx="324408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kg_chat_gui.py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21200" y="4648200"/>
            <a:ext cx="324408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window plus a live node-link graph panel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924800" y="4305300"/>
            <a:ext cx="3454400" cy="889000"/>
          </a:xfrm>
          <a:prstGeom prst="roundRect">
            <a:avLst>
              <a:gd name="adj" fmla="val 8571"/>
            </a:avLst>
          </a:prstGeom>
          <a:solidFill>
            <a:srgbClr val="EFF3F4"/>
          </a:solidFill>
          <a:ln/>
        </p:spPr>
      </p:sp>
      <p:sp>
        <p:nvSpPr>
          <p:cNvPr id="31" name="Text 25"/>
          <p:cNvSpPr/>
          <p:nvPr/>
        </p:nvSpPr>
        <p:spPr>
          <a:xfrm>
            <a:off x="8077200" y="4432300"/>
            <a:ext cx="324408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catch_up_from_kg.py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077200" y="4648200"/>
            <a:ext cx="32440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saturation loop that opens and paces a session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a sentence to graph triples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5410200" cy="3949700"/>
          </a:xfrm>
          <a:prstGeom prst="roundRect">
            <a:avLst>
              <a:gd name="adj" fmla="val 3215"/>
            </a:avLst>
          </a:prstGeom>
          <a:solidFill>
            <a:srgbClr val="132A3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46300"/>
            <a:ext cx="504926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 SAYS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57450"/>
            <a:ext cx="5049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"I cycled for an hour yesterday"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48323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agent_patient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13000" y="4832350"/>
            <a:ext cx="29656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510540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13000" y="5105400"/>
            <a:ext cx="71953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yesterday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537845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13000" y="5378450"/>
            <a:ext cx="79513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an hour</a:t>
            </a:r>
            <a:endParaRPr lang="en-US" sz="1200" dirty="0"/>
          </a:p>
        </p:txBody>
      </p:sp>
      <p:pic>
        <p:nvPicPr>
          <p:cNvPr id="13" name="Image 0" descr="ellipse">    </p:cNvPr>
          <p:cNvPicPr>
            <a:picLocks noChangeAspect="1"/>
          </p:cNvPicPr>
          <p:nvPr/>
        </p:nvPicPr>
        <p:blipFill>
          <a:blip r:embed="rId1"/>
          <a:srcRect l="0" r="0" t="-593" b="-593"/>
          <a:stretch/>
        </p:blipFill>
        <p:spPr>
          <a:xfrm>
            <a:off x="6477000" y="2609850"/>
            <a:ext cx="50205" cy="101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28805" y="2609850"/>
            <a:ext cx="489290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Incremental, not batch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one LLM call per turn keeps the running history, so "it" and "that" still resolve to the right earlier activity.</a:t>
            </a:r>
            <a:endParaRPr lang="en-US" sz="1300" dirty="0"/>
          </a:p>
        </p:txBody>
      </p:sp>
      <p:pic>
        <p:nvPicPr>
          <p:cNvPr id="15" name="Image 1" descr="ellipse">    </p:cNvPr>
          <p:cNvPicPr>
            <a:picLocks noChangeAspect="1"/>
          </p:cNvPicPr>
          <p:nvPr/>
        </p:nvPicPr>
        <p:blipFill>
          <a:blip r:embed="rId2"/>
          <a:srcRect l="0" r="0" t="-2269" b="-2269"/>
          <a:stretch/>
        </p:blipFill>
        <p:spPr>
          <a:xfrm>
            <a:off x="6477000" y="3448050"/>
            <a:ext cx="54670" cy="101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33270" y="3448050"/>
            <a:ext cx="48883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id per real-world event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same </a:t>
            </a:r>
            <a:r>
              <a:rPr lang="en-US" sz="130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activity_id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reused every time it's mentioned again, even with no new phrase.</a:t>
            </a:r>
            <a:endParaRPr lang="en-US" sz="1300" dirty="0"/>
          </a:p>
        </p:txBody>
      </p:sp>
      <p:pic>
        <p:nvPicPr>
          <p:cNvPr id="17" name="Image 2" descr="ellipse">    </p:cNvPr>
          <p:cNvPicPr>
            <a:picLocks noChangeAspect="1"/>
          </p:cNvPicPr>
          <p:nvPr/>
        </p:nvPicPr>
        <p:blipFill>
          <a:blip r:embed="rId3"/>
          <a:srcRect l="-2031" r="-2031" t="0" b="0"/>
          <a:stretch/>
        </p:blipFill>
        <p:spPr>
          <a:xfrm>
            <a:off x="6477000" y="4057650"/>
            <a:ext cx="66080" cy="101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4680" y="4057650"/>
            <a:ext cx="48765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Pronouns become identities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"I" and "you" link to a real person's URI, not a bare, unlinked word.</a:t>
            </a:r>
            <a:endParaRPr lang="en-US" sz="1300" dirty="0"/>
          </a:p>
        </p:txBody>
      </p:sp>
      <p:pic>
        <p:nvPicPr>
          <p:cNvPr id="19" name="Image 3" descr="ellipse">    </p:cNvPr>
          <p:cNvPicPr>
            <a:picLocks noChangeAspect="1"/>
          </p:cNvPicPr>
          <p:nvPr/>
        </p:nvPicPr>
        <p:blipFill>
          <a:blip r:embed="rId4"/>
          <a:srcRect l="0" r="0" t="-2459" b="-2459"/>
          <a:stretch/>
        </p:blipFill>
        <p:spPr>
          <a:xfrm>
            <a:off x="6477000" y="4667250"/>
            <a:ext cx="54471" cy="101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33071" y="4667250"/>
            <a:ext cx="48885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shared role vocabulary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agent, patient, location, time, qualification — under the project's own </a:t>
            </a:r>
            <a:r>
              <a:rPr lang="en-US" sz="130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n2mu: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namespace.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GROUNDED IN REAL CONVERSATIONAL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256 synthetic conversations, one lifestyle coach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19275"/>
            <a:ext cx="2028230" cy="11811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1974850"/>
            <a:ext cx="1768592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1550" y="2438400"/>
            <a:ext cx="17685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2155" y="1819275"/>
            <a:ext cx="2028230" cy="11811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7730" y="1974850"/>
            <a:ext cx="1768592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2,003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07730" y="2438400"/>
            <a:ext cx="17685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annotated turns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8334" y="1819275"/>
            <a:ext cx="2028230" cy="11811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3909" y="1974850"/>
            <a:ext cx="1768592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2,656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43909" y="2438400"/>
            <a:ext cx="17685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unique activities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4514" y="1819275"/>
            <a:ext cx="2028230" cy="11811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0089" y="1974850"/>
            <a:ext cx="1768592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3,506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80089" y="2438400"/>
            <a:ext cx="17685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 entries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57519" y="1816100"/>
            <a:ext cx="2021880" cy="1187450"/>
          </a:xfrm>
          <a:prstGeom prst="roundRect">
            <a:avLst>
              <a:gd name="adj" fmla="val 8556"/>
            </a:avLst>
          </a:prstGeom>
          <a:solidFill>
            <a:srgbClr val="13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919" y="1968500"/>
            <a:ext cx="1768592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1,047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09919" y="2432050"/>
            <a:ext cx="17685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expressions — 842 resolved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257550"/>
            <a:ext cx="5095050" cy="1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99"/>
              </a:lnSpc>
              <a:buNone/>
            </a:pPr>
            <a:r>
              <a:rPr lang="en-US" sz="1166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annotated, per turn</a:t>
            </a:r>
            <a:endParaRPr lang="en-US" sz="1166" dirty="0"/>
          </a:p>
        </p:txBody>
      </p:sp>
      <p:pic>
        <p:nvPicPr>
          <p:cNvPr id="20" name="Image 0" descr="ellipse">    </p:cNvPr>
          <p:cNvPicPr>
            <a:picLocks noChangeAspect="1"/>
          </p:cNvPicPr>
          <p:nvPr/>
        </p:nvPicPr>
        <p:blipFill>
          <a:blip r:embed="rId1"/>
          <a:srcRect l="-2691" r="-2691" t="0" b="0"/>
          <a:stretch/>
        </p:blipFill>
        <p:spPr>
          <a:xfrm>
            <a:off x="812800" y="3529608"/>
            <a:ext cx="60226" cy="101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74626" y="3529608"/>
            <a:ext cx="492836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Activity and condition mentions, typed (diet, exercise, treatment, symptom …) with a stable id reused across turns</a:t>
            </a:r>
            <a:endParaRPr lang="en-US" sz="1250" dirty="0"/>
          </a:p>
        </p:txBody>
      </p:sp>
      <p:pic>
        <p:nvPicPr>
          <p:cNvPr id="22" name="Image 1" descr="ellipse">    </p:cNvPr>
          <p:cNvPicPr>
            <a:picLocks noChangeAspect="1"/>
          </p:cNvPicPr>
          <p:nvPr/>
        </p:nvPicPr>
        <p:blipFill>
          <a:blip r:embed="rId2"/>
          <a:srcRect l="-2202" r="-2202" t="0" b="0"/>
          <a:stretch/>
        </p:blipFill>
        <p:spPr>
          <a:xfrm>
            <a:off x="812800" y="4016077"/>
            <a:ext cx="72926" cy="101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87326" y="4016077"/>
            <a:ext cx="491528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roles — agent, patient, agent_patient, experiencer, instrument, result, location, time</a:t>
            </a:r>
            <a:endParaRPr lang="en-US" sz="1250" dirty="0"/>
          </a:p>
        </p:txBody>
      </p:sp>
      <p:pic>
        <p:nvPicPr>
          <p:cNvPr id="24" name="Image 2" descr="ellipse">    </p:cNvPr>
          <p:cNvPicPr>
            <a:picLocks noChangeAspect="1"/>
          </p:cNvPicPr>
          <p:nvPr/>
        </p:nvPicPr>
        <p:blipFill>
          <a:blip r:embed="rId3"/>
          <a:srcRect l="-573" r="-573" t="0" b="0"/>
          <a:stretch/>
        </p:blipFill>
        <p:spPr>
          <a:xfrm>
            <a:off x="812800" y="4502547"/>
            <a:ext cx="96341" cy="101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10741" y="4502547"/>
            <a:ext cx="489117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expressions resolved to point, range, duration, recurring or vague</a:t>
            </a:r>
            <a:endParaRPr lang="en-US" sz="1250" dirty="0"/>
          </a:p>
        </p:txBody>
      </p:sp>
      <p:pic>
        <p:nvPicPr>
          <p:cNvPr id="26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989016"/>
            <a:ext cx="101600" cy="101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6000" y="4989016"/>
            <a:ext cx="4424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Speaker perspective per turn — emotion, factuality, certainty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016625" y="3260725"/>
            <a:ext cx="5359400" cy="1917700"/>
          </a:xfrm>
          <a:prstGeom prst="roundRect">
            <a:avLst>
              <a:gd name="adj" fmla="val 645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23000" y="3467100"/>
            <a:ext cx="5095050" cy="160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914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activity types, by share</a:t>
            </a:r>
            <a:endParaRPr lang="en-US" sz="914" dirty="0"/>
          </a:p>
        </p:txBody>
      </p:sp>
      <p:sp>
        <p:nvSpPr>
          <p:cNvPr id="30" name="Text 24"/>
          <p:cNvSpPr/>
          <p:nvPr/>
        </p:nvSpPr>
        <p:spPr>
          <a:xfrm>
            <a:off x="6223000" y="3659187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785100" y="3678238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32" name="Shape 26"/>
          <p:cNvSpPr/>
          <p:nvPr/>
        </p:nvSpPr>
        <p:spPr>
          <a:xfrm>
            <a:off x="7785100" y="3678238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33" name="Text 27"/>
          <p:cNvSpPr/>
          <p:nvPr/>
        </p:nvSpPr>
        <p:spPr>
          <a:xfrm>
            <a:off x="10299700" y="3659187"/>
            <a:ext cx="361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223000" y="3887490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Exercise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785100" y="3906540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36" name="Shape 30"/>
          <p:cNvSpPr/>
          <p:nvPr/>
        </p:nvSpPr>
        <p:spPr>
          <a:xfrm>
            <a:off x="7785100" y="3906540"/>
            <a:ext cx="163830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37" name="Text 31"/>
          <p:cNvSpPr/>
          <p:nvPr/>
        </p:nvSpPr>
        <p:spPr>
          <a:xfrm>
            <a:off x="10299700" y="3887490"/>
            <a:ext cx="361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17%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6223000" y="4115792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condition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785100" y="4134842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40" name="Shape 34"/>
          <p:cNvSpPr/>
          <p:nvPr/>
        </p:nvSpPr>
        <p:spPr>
          <a:xfrm>
            <a:off x="7785100" y="4134842"/>
            <a:ext cx="115570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41" name="Text 35"/>
          <p:cNvSpPr/>
          <p:nvPr/>
        </p:nvSpPr>
        <p:spPr>
          <a:xfrm>
            <a:off x="10299700" y="4115792"/>
            <a:ext cx="361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12%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6223000" y="4344095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785100" y="4363145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44" name="Shape 38"/>
          <p:cNvSpPr/>
          <p:nvPr/>
        </p:nvSpPr>
        <p:spPr>
          <a:xfrm>
            <a:off x="7785100" y="4363145"/>
            <a:ext cx="77470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45" name="Text 39"/>
          <p:cNvSpPr/>
          <p:nvPr/>
        </p:nvSpPr>
        <p:spPr>
          <a:xfrm>
            <a:off x="10299700" y="4344095"/>
            <a:ext cx="273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8%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6223000" y="4572397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7785100" y="4591447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48" name="Shape 42"/>
          <p:cNvSpPr/>
          <p:nvPr/>
        </p:nvSpPr>
        <p:spPr>
          <a:xfrm>
            <a:off x="7785100" y="4591447"/>
            <a:ext cx="67310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49" name="Text 43"/>
          <p:cNvSpPr/>
          <p:nvPr/>
        </p:nvSpPr>
        <p:spPr>
          <a:xfrm>
            <a:off x="10299700" y="4572397"/>
            <a:ext cx="273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7%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6223000" y="4800699"/>
            <a:ext cx="151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7785100" y="4819749"/>
            <a:ext cx="2413000" cy="165100"/>
          </a:xfrm>
          <a:prstGeom prst="roundRect">
            <a:avLst>
              <a:gd name="adj" fmla="val 23077"/>
            </a:avLst>
          </a:prstGeom>
          <a:solidFill>
            <a:srgbClr val="E7ECEE"/>
          </a:solidFill>
          <a:ln/>
        </p:spPr>
      </p:sp>
      <p:sp>
        <p:nvSpPr>
          <p:cNvPr id="52" name="Shape 46"/>
          <p:cNvSpPr/>
          <p:nvPr/>
        </p:nvSpPr>
        <p:spPr>
          <a:xfrm>
            <a:off x="7785100" y="4819749"/>
            <a:ext cx="577850" cy="165100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/>
        </p:spPr>
      </p:sp>
      <p:sp>
        <p:nvSpPr>
          <p:cNvPr id="53" name="Text 47"/>
          <p:cNvSpPr/>
          <p:nvPr/>
        </p:nvSpPr>
        <p:spPr>
          <a:xfrm>
            <a:off x="10299700" y="4800699"/>
            <a:ext cx="273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6%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812800" y="5435600"/>
            <a:ext cx="1088339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ChatGPT-generated chats across 16 fake diabetes patients (age, gender, ethnicity, biography), randomly grounded January 2010 – June 2015 (Ntanavaras, de Boer &amp; Vossen, 2026 — see References).</a:t>
            </a:r>
            <a:endParaRPr lang="en-US" sz="1150" dirty="0"/>
          </a:p>
        </p:txBody>
      </p:sp>
      <p:sp>
        <p:nvSpPr>
          <p:cNvPr id="55" name="Text 49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CORPUS BECOMES A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 event-centric knowledge graph, not a transcript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16100"/>
            <a:ext cx="5410200" cy="2635250"/>
          </a:xfrm>
          <a:prstGeom prst="roundRect">
            <a:avLst>
              <a:gd name="adj" fmla="val 4819"/>
            </a:avLst>
          </a:prstGeom>
          <a:solidFill>
            <a:srgbClr val="132A3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70100"/>
            <a:ext cx="5049266" cy="212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spc="5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 SAYS</a:t>
            </a:r>
            <a:endParaRPr lang="en-US" sz="1069" dirty="0"/>
          </a:p>
        </p:txBody>
      </p:sp>
      <p:sp>
        <p:nvSpPr>
          <p:cNvPr id="6" name="Text 4"/>
          <p:cNvSpPr/>
          <p:nvPr/>
        </p:nvSpPr>
        <p:spPr>
          <a:xfrm>
            <a:off x="1066800" y="2345829"/>
            <a:ext cx="504926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355" i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"I'm concerned about my frequent thirst and dry mouth."</a:t>
            </a:r>
            <a:endParaRPr lang="en-US" sz="1355" dirty="0"/>
          </a:p>
        </p:txBody>
      </p:sp>
      <p:sp>
        <p:nvSpPr>
          <p:cNvPr id="7" name="Shape 5"/>
          <p:cNvSpPr/>
          <p:nvPr/>
        </p:nvSpPr>
        <p:spPr>
          <a:xfrm>
            <a:off x="1066800" y="2672457"/>
            <a:ext cx="1822549" cy="271463"/>
          </a:xfrm>
          <a:prstGeom prst="roundRect">
            <a:avLst>
              <a:gd name="adj" fmla="val 18713"/>
            </a:avLst>
          </a:prstGeom>
          <a:solidFill>
            <a:srgbClr val="1B3A54"/>
          </a:solidFill>
          <a:ln/>
        </p:spPr>
      </p:sp>
      <p:sp>
        <p:nvSpPr>
          <p:cNvPr id="8" name="Text 6"/>
          <p:cNvSpPr/>
          <p:nvPr/>
        </p:nvSpPr>
        <p:spPr>
          <a:xfrm>
            <a:off x="1168400" y="2723257"/>
            <a:ext cx="1670149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thirst_and_dry_mouth_1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800" y="3108623"/>
            <a:ext cx="138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instanceOf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76500" y="3108623"/>
            <a:ext cx="82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EventSeries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6800" y="3349129"/>
            <a:ext cx="138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experiencer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76500" y="3349129"/>
            <a:ext cx="28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6800" y="3589635"/>
            <a:ext cx="138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76500" y="3589635"/>
            <a:ext cx="6132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frequent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6800" y="3817045"/>
            <a:ext cx="1384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attributedTo → emotion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76500" y="3918645"/>
            <a:ext cx="3093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fear</a:t>
            </a:r>
            <a:endParaRPr lang="en-US" sz="1150" dirty="0"/>
          </a:p>
        </p:txBody>
      </p:sp>
      <p:pic>
        <p:nvPicPr>
          <p:cNvPr id="17" name="Image 0" descr="ellipse">    </p:cNvPr>
          <p:cNvPicPr>
            <a:picLocks noChangeAspect="1"/>
          </p:cNvPicPr>
          <p:nvPr/>
        </p:nvPicPr>
        <p:blipFill>
          <a:blip r:embed="rId1"/>
          <a:srcRect l="0" r="0" t="-262" b="-262"/>
          <a:stretch/>
        </p:blipFill>
        <p:spPr>
          <a:xfrm>
            <a:off x="6477000" y="1952625"/>
            <a:ext cx="37902" cy="101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16502" y="1952625"/>
            <a:ext cx="490557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mention is an EventSeries instance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not a flat triple. The same identifier is reused every time thirst comes up again, exactly like </a:t>
            </a:r>
            <a:r>
              <a:rPr lang="en-US" sz="130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activity_id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this agent's own graph.</a:t>
            </a:r>
            <a:endParaRPr lang="en-US" sz="1300" dirty="0"/>
          </a:p>
        </p:txBody>
      </p:sp>
      <p:pic>
        <p:nvPicPr>
          <p:cNvPr id="19" name="Image 1" descr="ellipse">    </p:cNvPr>
          <p:cNvPicPr>
            <a:picLocks noChangeAspect="1"/>
          </p:cNvPicPr>
          <p:nvPr/>
        </p:nvPicPr>
        <p:blipFill>
          <a:blip r:embed="rId2"/>
          <a:srcRect l="-2865" r="-2865" t="0" b="0"/>
          <a:stretch/>
        </p:blipFill>
        <p:spPr>
          <a:xfrm>
            <a:off x="6477000" y="2790825"/>
            <a:ext cx="40283" cy="101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18883" y="2790825"/>
            <a:ext cx="490312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Perspective travels with the event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attributedTo links it to an attribution node carrying the speaker's emotion, factuality and certainty. A memory, not just a fact.</a:t>
            </a:r>
            <a:endParaRPr lang="en-US" sz="1300" dirty="0"/>
          </a:p>
        </p:txBody>
      </p:sp>
      <p:pic>
        <p:nvPicPr>
          <p:cNvPr id="21" name="Image 2" descr="ellipse">    </p:cNvPr>
          <p:cNvPicPr>
            <a:picLocks noChangeAspect="1"/>
          </p:cNvPicPr>
          <p:nvPr/>
        </p:nvPicPr>
        <p:blipFill>
          <a:blip r:embed="rId3"/>
          <a:srcRect l="-3646" r="-3646" t="0" b="0"/>
          <a:stretch/>
        </p:blipFill>
        <p:spPr>
          <a:xfrm>
            <a:off x="6477000" y="3629025"/>
            <a:ext cx="40878" cy="101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19478" y="3629025"/>
            <a:ext cx="4902514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shared role set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agent, patient, agent_patient, experiencer, instrument, location, time, result — the same vocabulary this agent's own n2mu roles build on.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15975" y="4708525"/>
            <a:ext cx="10560050" cy="1130300"/>
          </a:xfrm>
          <a:prstGeom prst="roundRect">
            <a:avLst>
              <a:gd name="adj" fmla="val 8708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96950" y="4864100"/>
            <a:ext cx="1050404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 entities extracted from the corpus, by type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492945" y="5149850"/>
            <a:ext cx="4394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432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381125" y="5473700"/>
            <a:ext cx="66307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962473" y="5149850"/>
            <a:ext cx="4394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359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2906812" y="5473700"/>
            <a:ext cx="5507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432002" y="5149850"/>
            <a:ext cx="4394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274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4213920" y="5473700"/>
            <a:ext cx="87560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instruments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901531" y="5149850"/>
            <a:ext cx="4394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221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5742285" y="5473700"/>
            <a:ext cx="75783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properties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371060" y="5149850"/>
            <a:ext cx="4394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216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7226895" y="5473700"/>
            <a:ext cx="72777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expr.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905280" y="5149850"/>
            <a:ext cx="3099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8805466" y="5473700"/>
            <a:ext cx="50968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0374809" y="5149850"/>
            <a:ext cx="3099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58</a:t>
            </a:r>
            <a:endParaRPr lang="en-US" sz="1700" dirty="0"/>
          </a:p>
        </p:txBody>
      </p:sp>
      <p:sp>
        <p:nvSpPr>
          <p:cNvPr id="38" name="Text 33"/>
          <p:cNvSpPr/>
          <p:nvPr/>
        </p:nvSpPr>
        <p:spPr>
          <a:xfrm>
            <a:off x="10281940" y="5473700"/>
            <a:ext cx="49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STRATEGY — DECIDING WHAT'S MISSING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ways to spot a knowledge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5475"/>
            <a:ext cx="5175250" cy="3429000"/>
          </a:xfrm>
          <a:prstGeom prst="roundRect">
            <a:avLst>
              <a:gd name="adj" fmla="val 3611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526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05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KG_GAP_FINDER.PY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46380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Peer statistics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3150" y="2832100"/>
            <a:ext cx="480072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Compares an activity to similar past instances. A gap fires once a majority of peers share the missing predicate.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3150" y="4648200"/>
            <a:ext cx="480072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Limit: the very first instance of a kind has no peers yet — no gap can ever fire for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75" y="1895475"/>
            <a:ext cx="5175250" cy="3429000"/>
          </a:xfrm>
          <a:prstGeom prst="roundRect">
            <a:avLst>
              <a:gd name="adj" fmla="val 3611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21526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INTENT_GAP_FINDER.PY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57950" y="246380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Hand-authored intents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57950" y="2832100"/>
            <a:ext cx="4800727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JSON file per topic — diet, exercise, sleep, symptoms, medication, conditions, measurements — each stating what a complete record needs.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7950" y="4648200"/>
            <a:ext cx="480072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from the very first mention — the expectation is declared, not inferred from peers.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56324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per-turn loop either way — KgChatSession vs. KgIntentChatSession swap only the gap-finding step.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STRATEGY — ONE INTENT, IN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Ask one thing at a time, in priority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2298700" cy="1333500"/>
          </a:xfrm>
          <a:prstGeom prst="roundRect">
            <a:avLst>
              <a:gd name="adj" fmla="val 7619"/>
            </a:avLst>
          </a:prstGeom>
          <a:solidFill>
            <a:srgbClr val="132A3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7010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What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35585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patient_type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600" y="2641600"/>
            <a:ext cx="20013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was eaten, drunk, taken or measured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2476500"/>
            <a:ext cx="254000" cy="139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8700" y="1892300"/>
            <a:ext cx="2298700" cy="1333500"/>
          </a:xfrm>
          <a:prstGeom prst="roundRect">
            <a:avLst>
              <a:gd name="adj" fmla="val 7619"/>
            </a:avLst>
          </a:prstGeom>
          <a:solidFill>
            <a:srgbClr val="132A3E"/>
          </a:solidFill>
          <a:ln/>
        </p:spPr>
      </p:sp>
      <p:sp>
        <p:nvSpPr>
          <p:cNvPr id="10" name="Text 7"/>
          <p:cNvSpPr/>
          <p:nvPr/>
        </p:nvSpPr>
        <p:spPr>
          <a:xfrm>
            <a:off x="3746500" y="207010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How much / long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46500" y="235585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6500" y="2641600"/>
            <a:ext cx="20013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Duration, degree, quantity — only once step 1 is known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476500"/>
            <a:ext cx="254000" cy="139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4600" y="1892300"/>
            <a:ext cx="2298700" cy="1333500"/>
          </a:xfrm>
          <a:prstGeom prst="roundRect">
            <a:avLst>
              <a:gd name="adj" fmla="val 7619"/>
            </a:avLst>
          </a:prstGeom>
          <a:solidFill>
            <a:srgbClr val="132A3E"/>
          </a:solidFill>
          <a:ln/>
        </p:spPr>
      </p:sp>
      <p:sp>
        <p:nvSpPr>
          <p:cNvPr id="15" name="Text 11"/>
          <p:cNvSpPr/>
          <p:nvPr/>
        </p:nvSpPr>
        <p:spPr>
          <a:xfrm>
            <a:off x="6502400" y="207010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When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02400" y="235585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activity_date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02400" y="2641600"/>
            <a:ext cx="20013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time value at all — only once 1 and 2 are filled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2476500"/>
            <a:ext cx="254000" cy="1397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0500" y="1892300"/>
            <a:ext cx="2298700" cy="1333500"/>
          </a:xfrm>
          <a:prstGeom prst="roundRect">
            <a:avLst>
              <a:gd name="adj" fmla="val 7619"/>
            </a:avLst>
          </a:prstGeom>
          <a:solidFill>
            <a:srgbClr val="C0533B"/>
          </a:solidFill>
          <a:ln/>
        </p:spPr>
      </p:sp>
      <p:sp>
        <p:nvSpPr>
          <p:cNvPr id="20" name="Text 15"/>
          <p:cNvSpPr/>
          <p:nvPr/>
        </p:nvSpPr>
        <p:spPr>
          <a:xfrm>
            <a:off x="9258300" y="207010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CE3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Extra detail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58300" y="2355850"/>
            <a:ext cx="20013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secondary objectives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258300" y="2641600"/>
            <a:ext cx="20013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CE3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reached once 1–3 are all satisfied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5975" y="3533775"/>
            <a:ext cx="10560050" cy="1079500"/>
          </a:xfrm>
          <a:prstGeom prst="roundRect">
            <a:avLst>
              <a:gd name="adj" fmla="val 9118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96950" y="3714750"/>
            <a:ext cx="1050404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measurement_intents.json, in practice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96950" y="3975100"/>
            <a:ext cx="105040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"Did you measure </a:t>
            </a:r>
            <a:r>
              <a:rPr lang="en-US" sz="130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blood sugar level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lately?" → "What did you measure?" (quantity) → "When did you measure it?" — each question only paraphrases the intent's own hand-written template, so a weaker model never leaks a raw role name like "patient" into the question.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STRATEGY — GETTING THE ANSWER TO STICK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Capture the answer, don't lose it to a coreference miss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3397250" cy="3530600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205105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393950"/>
            <a:ext cx="3074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Confirm, don't interrogate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2705100"/>
            <a:ext cx="3074035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missing "who" is asked as "Was that you?" — not an open question. Yes / no / a correction is pushed straight to the graph.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97375" y="1844675"/>
            <a:ext cx="3397250" cy="3530600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03750" y="205105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3750" y="2393950"/>
            <a:ext cx="3074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 the reply directly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03750" y="2705100"/>
            <a:ext cx="3074035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single-predicate gap arms a pending slot. The next reply is classified ANSWER / DECLINE / UNRELATED and written straight onto that same activity — never left for the extractor to re-link.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78775" y="1844675"/>
            <a:ext cx="3397250" cy="3530600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pic>
        <p:nvPicPr>
          <p:cNvPr id="13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5150" y="205105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5150" y="2393950"/>
            <a:ext cx="30740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ask forever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85150" y="2705100"/>
            <a:ext cx="307403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backstops: a gap already asked is never repeated, and a requirement gets a fixed number of tries across the whole chat before the agent moves on.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6324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matters: a short reply like "30 minutes" often gets coreferenced onto a brand-new, empty subject — direct capture skips that guesswork entirely.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974487" y="6242050"/>
            <a:ext cx="4555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STRATEGY — OPENING A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Ask until there's enough — not just 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41500"/>
            <a:ext cx="7905750" cy="457200"/>
          </a:xfrm>
          <a:prstGeom prst="roundRect">
            <a:avLst>
              <a:gd name="adj" fmla="val 16667"/>
            </a:avLst>
          </a:prstGeom>
          <a:solidFill>
            <a:srgbClr val="DCE3E6"/>
          </a:solidFill>
          <a:ln/>
        </p:spPr>
      </p:sp>
      <p:sp>
        <p:nvSpPr>
          <p:cNvPr id="5" name="Text 3"/>
          <p:cNvSpPr/>
          <p:nvPr/>
        </p:nvSpPr>
        <p:spPr>
          <a:xfrm>
            <a:off x="3841651" y="1965325"/>
            <a:ext cx="190349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of this person's history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43950" y="1841500"/>
            <a:ext cx="2635250" cy="4572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638209" y="1965325"/>
            <a:ext cx="89743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14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07693" y="2374900"/>
            <a:ext cx="238544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sets the weekly baseline per topic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43950" y="2374900"/>
            <a:ext cx="271430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catch-up window, even if the real gap is longer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051175"/>
            <a:ext cx="3215184" cy="1670050"/>
          </a:xfrm>
          <a:prstGeom prst="roundRect">
            <a:avLst>
              <a:gd name="adj" fmla="val 5894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50" y="3219450"/>
            <a:ext cx="29649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4250" y="3492500"/>
            <a:ext cx="296499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Weekly baseline, per topic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4250" y="3752850"/>
            <a:ext cx="296499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"3 exercise sessions per week, historically" — from this person's own dated past, tiled in 7-day windows</a:t>
            </a:r>
            <a:endParaRPr lang="en-US" sz="1200" dirty="0"/>
          </a:p>
        </p:txBody>
      </p:sp>
      <p:pic>
        <p:nvPicPr>
          <p:cNvPr id="14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35934" y="3803650"/>
            <a:ext cx="254000" cy="1397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494709" y="3051175"/>
            <a:ext cx="3215184" cy="1670050"/>
          </a:xfrm>
          <a:prstGeom prst="roundRect">
            <a:avLst>
              <a:gd name="adj" fmla="val 5894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2984" y="3219450"/>
            <a:ext cx="29649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62984" y="3492500"/>
            <a:ext cx="296499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Ask, biggest shortfall first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62984" y="3752850"/>
            <a:ext cx="296499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topic at a time; a repeat is reworded as "anything else...", never the identical question</a:t>
            </a:r>
            <a:endParaRPr lang="en-US" sz="1200" dirty="0"/>
          </a:p>
        </p:txBody>
      </p:sp>
      <p:pic>
        <p:nvPicPr>
          <p:cNvPr id="1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4667" y="3803650"/>
            <a:ext cx="254000" cy="1397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170267" y="3048000"/>
            <a:ext cx="3208834" cy="1676400"/>
          </a:xfrm>
          <a:prstGeom prst="roundRect">
            <a:avLst>
              <a:gd name="adj" fmla="val 6061"/>
            </a:avLst>
          </a:prstGeom>
          <a:solidFill>
            <a:srgbClr val="132A3E"/>
          </a:solidFill>
          <a:ln/>
        </p:spPr>
      </p:sp>
      <p:sp>
        <p:nvSpPr>
          <p:cNvPr id="21" name="Text 17"/>
          <p:cNvSpPr/>
          <p:nvPr/>
        </p:nvSpPr>
        <p:spPr>
          <a:xfrm>
            <a:off x="8335367" y="3213100"/>
            <a:ext cx="296499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335367" y="3486150"/>
            <a:ext cx="296499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Enough? Let the LLM decide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335367" y="3746500"/>
            <a:ext cx="296499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 naturally if there's a thread left, or wrap up and say goodbye — reading the human's own last message, not just the tally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49784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"what did we discuss?" any time — a plain recap of what's covered vs. still open, with no effect on the loop itself.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STRATEGY — NEVER A DEAD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 acknowledgement is never the whole reply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98650"/>
            <a:ext cx="5181600" cy="31750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12700">
            <a:solidFill>
              <a:srgbClr val="E3B7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13360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05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444750"/>
            <a:ext cx="485305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i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"Thanks for letting me know."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4100" y="462915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0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reply, and the conversation, just stop there.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300" y="1892300"/>
            <a:ext cx="5168900" cy="3187700"/>
          </a:xfrm>
          <a:prstGeom prst="roundRect">
            <a:avLst>
              <a:gd name="adj" fmla="val 3984"/>
            </a:avLst>
          </a:prstGeom>
          <a:solidFill>
            <a:srgbClr val="132A3E"/>
          </a:solidFill>
          <a:ln/>
        </p:spPr>
      </p:sp>
      <p:sp>
        <p:nvSpPr>
          <p:cNvPr id="9" name="Text 7"/>
          <p:cNvSpPr/>
          <p:nvPr/>
        </p:nvSpPr>
        <p:spPr>
          <a:xfrm>
            <a:off x="6438900" y="212090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38900" y="2432050"/>
            <a:ext cx="48530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i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"No worries, thanks for letting me know. How has your exercise been going lately?"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8900" y="4432300"/>
            <a:ext cx="485305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acknowledgement — immediately chained into the next open topic.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38480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acknowledgement now calls straight into the agent's own reply function afterward — the exact call the conversation would make anyway once nothing else is pending, made explicit so it always fires.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LIVE EXAMPLE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Catching up with Jan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6026150" cy="380365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  <a:effectLst>
            <a:outerShdw sx="100000" sy="100000" kx="0" ky="0" algn="bl" rotWithShape="0" blurRad="101600" dist="25400" dir="5400000">
              <a:srgbClr val="132A3E">
                <a:alpha val="12000"/>
              </a:srgbClr>
            </a:outerShdw>
          </a:effectLst>
        </p:spPr>
      </p:sp>
      <p:pic>
        <p:nvPicPr>
          <p:cNvPr id="5" name="Image 0" descr="Screenshot of the Leolani KG Chat window: a live catch-up conversation with Jan, with the knowledge graph panel on the right showing the blood sugar readings activity">    </p:cNvPr>
          <p:cNvPicPr>
            <a:picLocks noChangeAspect="1"/>
          </p:cNvPicPr>
          <p:nvPr/>
        </p:nvPicPr>
        <p:blipFill>
          <a:blip r:embed="rId1"/>
          <a:srcRect l="-1013" r="-1013" t="0" b="0"/>
          <a:stretch/>
        </p:blipFill>
        <p:spPr>
          <a:xfrm>
            <a:off x="895350" y="1924050"/>
            <a:ext cx="5880100" cy="3644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51675" y="1844675"/>
            <a:ext cx="43243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94550" y="1987550"/>
            <a:ext cx="415975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with a recap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94550" y="2222500"/>
            <a:ext cx="41597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 last time's topics, then asks one specific question to 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51675" y="2905125"/>
            <a:ext cx="43243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94550" y="3048000"/>
            <a:ext cx="415975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Follow-ups drill down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94550" y="3282950"/>
            <a:ext cx="41597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Drinks, duration, blood sugar — one intent question at a time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1675" y="3965575"/>
            <a:ext cx="43243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94550" y="4108450"/>
            <a:ext cx="415975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graph, live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94550" y="4343400"/>
            <a:ext cx="415975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fact lands on the right — here, "blood sugar readings" grounded by agent, qualification and date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60156" y="5810250"/>
            <a:ext cx="650861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screenshot is hard to read at a distance — full, readable transcript on the next slide →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LIVE EXAMPLE — THE TRANSCRIPT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Same conversation, read in full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65300"/>
            <a:ext cx="4698603" cy="571500"/>
          </a:xfrm>
          <a:prstGeom prst="roundRect">
            <a:avLst>
              <a:gd name="adj" fmla="val 11111"/>
            </a:avLst>
          </a:prstGeom>
          <a:solidFill>
            <a:srgbClr val="FBE7D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841500"/>
            <a:ext cx="32176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15E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4266" y="1841500"/>
            <a:ext cx="423344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general reply — opening recap, pacing, or plain conversation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3803" y="1765300"/>
            <a:ext cx="5715397" cy="571500"/>
          </a:xfrm>
          <a:prstGeom prst="roundRect">
            <a:avLst>
              <a:gd name="adj" fmla="val 11111"/>
            </a:avLst>
          </a:prstGeom>
          <a:solidFill>
            <a:srgbClr val="DCEEE1"/>
          </a:solidFill>
          <a:ln/>
        </p:spPr>
      </p:sp>
      <p:sp>
        <p:nvSpPr>
          <p:cNvPr id="8" name="Text 6"/>
          <p:cNvSpPr/>
          <p:nvPr/>
        </p:nvSpPr>
        <p:spPr>
          <a:xfrm>
            <a:off x="5790803" y="1841500"/>
            <a:ext cx="24903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7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52542" y="1841500"/>
            <a:ext cx="535564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6B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knowledge-graph gap — one specific missing fact about what was just reported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357662"/>
            <a:ext cx="10566400" cy="0"/>
          </a:xfrm>
          <a:prstGeom prst="line">
            <a:avLst/>
          </a:prstGeom>
          <a:noFill/>
          <a:ln w="6350">
            <a:solidFill>
              <a:srgbClr val="E1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5844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15E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4300" y="2540000"/>
            <a:ext cx="102947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"It's been about a week — last time we covered exercise, food, mood, blood sugar and more. How have things been this past week?"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076674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4300" y="3032224"/>
            <a:ext cx="373033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 went out with a friend for drinks yesterday"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83149"/>
            <a:ext cx="10566400" cy="0"/>
          </a:xfrm>
          <a:prstGeom prst="line">
            <a:avLst/>
          </a:prstGeom>
          <a:noFill/>
          <a:ln w="6350">
            <a:solidFill>
              <a:srgbClr val="E1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532287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7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4300" y="3487837"/>
            <a:ext cx="314444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"What drinks did you have yesterday?"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3802955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4300" y="3758505"/>
            <a:ext cx="18770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"5 beers and a whisky"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808637"/>
            <a:ext cx="10566400" cy="0"/>
          </a:xfrm>
          <a:prstGeom prst="line">
            <a:avLst/>
          </a:prstGeom>
          <a:noFill/>
          <a:ln w="6350">
            <a:solidFill>
              <a:srgbClr val="E1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257774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7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84300" y="4213324"/>
            <a:ext cx="627877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"Thanks for letting me know — how are you feeling today after those drinks?"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528443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84300" y="4483993"/>
            <a:ext cx="5717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"tired"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4983262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7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4300" y="4938812"/>
            <a:ext cx="23802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"How long do you feel tired?"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525393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84300" y="5209480"/>
            <a:ext cx="135929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"The whole day"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56324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KG turns chain directly off what Jan just said, one missing fact at a time; the LLM turn paces the whole session against the graph's own history.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86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GROUNDING, MADE VISIBLE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32A3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live graph panel, next to the chat</a:t>
            </a:r>
            <a:endParaRPr lang="en-US" sz="32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2552700"/>
            <a:ext cx="1371600" cy="8001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84500" y="2552700"/>
            <a:ext cx="1371600" cy="8001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4500" y="3251200"/>
            <a:ext cx="1371600" cy="80010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84500" y="3251200"/>
            <a:ext cx="1371600" cy="800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051050" y="2794000"/>
            <a:ext cx="812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3289300" y="2794000"/>
            <a:ext cx="1003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2146300" y="3746500"/>
            <a:ext cx="685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289300" y="3746500"/>
            <a:ext cx="876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dateTime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2400300" y="266700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132A3E"/>
          </a:solidFill>
          <a:ln/>
          <a:effectLst>
            <a:outerShdw sx="100000" sy="100000" kx="0" ky="0" algn="bl" rotWithShape="0" blurRad="101600" dist="25400" dir="5400000">
              <a:srgbClr val="132A3E">
                <a:alpha val="25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2533650" y="3098800"/>
            <a:ext cx="10033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blood sugar readings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1320800" y="21590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C0533B"/>
          </a:solidFill>
          <a:ln/>
        </p:spPr>
      </p:sp>
      <p:sp>
        <p:nvSpPr>
          <p:cNvPr id="15" name="Text 9"/>
          <p:cNvSpPr/>
          <p:nvPr/>
        </p:nvSpPr>
        <p:spPr>
          <a:xfrm>
            <a:off x="1390650" y="2498725"/>
            <a:ext cx="749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860800" y="21590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8A93A0"/>
          </a:solidFill>
          <a:ln/>
        </p:spPr>
      </p:sp>
      <p:sp>
        <p:nvSpPr>
          <p:cNvPr id="17" name="Text 11"/>
          <p:cNvSpPr/>
          <p:nvPr/>
        </p:nvSpPr>
        <p:spPr>
          <a:xfrm>
            <a:off x="3930650" y="2393950"/>
            <a:ext cx="749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bit lower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320800" y="35560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C0533B"/>
          </a:solidFill>
          <a:ln/>
        </p:spPr>
      </p:sp>
      <p:sp>
        <p:nvSpPr>
          <p:cNvPr id="19" name="Text 13"/>
          <p:cNvSpPr/>
          <p:nvPr/>
        </p:nvSpPr>
        <p:spPr>
          <a:xfrm>
            <a:off x="1390650" y="3895725"/>
            <a:ext cx="749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860800" y="35560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C0533B"/>
          </a:solidFill>
          <a:ln/>
        </p:spPr>
      </p:sp>
      <p:sp>
        <p:nvSpPr>
          <p:cNvPr id="21" name="Text 15"/>
          <p:cNvSpPr/>
          <p:nvPr/>
        </p:nvSpPr>
        <p:spPr>
          <a:xfrm>
            <a:off x="3930650" y="3895725"/>
            <a:ext cx="749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514975" y="1844675"/>
            <a:ext cx="58610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57850" y="1987550"/>
            <a:ext cx="574255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Colored by namespace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57850" y="2222500"/>
            <a:ext cx="574255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for the project's own n2mu roles, blue/green for the shared GAF and GRASP ontologies, gold for anything else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514975" y="2892425"/>
            <a:ext cx="58610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657850" y="3035300"/>
            <a:ext cx="574255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provenance clutter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57850" y="3270250"/>
            <a:ext cx="574255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label predicate and pure extraction-provenance links are never drawn as their own nodes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514975" y="3940175"/>
            <a:ext cx="5861050" cy="92710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D9DFE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657850" y="4083050"/>
            <a:ext cx="574255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2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edges merged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657850" y="4318000"/>
            <a:ext cx="574255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inferred sem:hasActor copy collapses onto the real n2mu:agent edge that already points at the same object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BFB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Grounded, paced, and never a dead end</a:t>
            </a:r>
            <a:endParaRPr lang="en-US" sz="3200" dirty="0"/>
          </a:p>
        </p:txBody>
      </p:sp>
      <p:pic>
        <p:nvPicPr>
          <p:cNvPr id="4" name="Image 0" descr="ellipse">    </p:cNvPr>
          <p:cNvPicPr>
            <a:picLocks noChangeAspect="1"/>
          </p:cNvPicPr>
          <p:nvPr/>
        </p:nvPicPr>
        <p:blipFill>
          <a:blip r:embed="rId1"/>
          <a:srcRect l="0" r="0" t="-71" b="-71"/>
          <a:stretch/>
        </p:blipFill>
        <p:spPr>
          <a:xfrm>
            <a:off x="812800" y="1866900"/>
            <a:ext cx="69751" cy="10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4151" y="1866900"/>
            <a:ext cx="49250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graph — not a script — decides the next question, from the very first mention of a topic.</a:t>
            </a:r>
            <a:endParaRPr lang="en-US" sz="1350" dirty="0"/>
          </a:p>
        </p:txBody>
      </p:sp>
      <p:pic>
        <p:nvPicPr>
          <p:cNvPr id="6" name="Image 1" descr="ellipse">    </p:cNvPr>
          <p:cNvPicPr>
            <a:picLocks noChangeAspect="1"/>
          </p:cNvPicPr>
          <p:nvPr/>
        </p:nvPicPr>
        <p:blipFill>
          <a:blip r:embed="rId2"/>
          <a:srcRect l="0" r="0" t="-1705" b="-1705"/>
          <a:stretch/>
        </p:blipFill>
        <p:spPr>
          <a:xfrm>
            <a:off x="812800" y="2463800"/>
            <a:ext cx="55265" cy="10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9665" y="2463800"/>
            <a:ext cx="49400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Sessions open by measuring the real gap against this person's own history, then ask until there's genuinely enough.</a:t>
            </a:r>
            <a:endParaRPr lang="en-US" sz="1350" dirty="0"/>
          </a:p>
        </p:txBody>
      </p:sp>
      <p:pic>
        <p:nvPicPr>
          <p:cNvPr id="8" name="Image 2" descr="ellipse">    </p:cNvPr>
          <p:cNvPicPr>
            <a:picLocks noChangeAspect="1"/>
          </p:cNvPicPr>
          <p:nvPr/>
        </p:nvPicPr>
        <p:blipFill>
          <a:blip r:embed="rId3"/>
          <a:srcRect l="0" r="0" t="-1892" b="-1892"/>
          <a:stretch/>
        </p:blipFill>
        <p:spPr>
          <a:xfrm>
            <a:off x="812800" y="3060700"/>
            <a:ext cx="55066" cy="10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9466" y="3060700"/>
            <a:ext cx="494022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are captured directly and never asked for twice; acknowledgements always keep the conversation moving.</a:t>
            </a:r>
            <a:endParaRPr lang="en-US" sz="1350" dirty="0"/>
          </a:p>
        </p:txBody>
      </p:sp>
      <p:pic>
        <p:nvPicPr>
          <p:cNvPr id="10" name="Image 3" descr="ellipse">    </p:cNvPr>
          <p:cNvPicPr>
            <a:picLocks noChangeAspect="1"/>
          </p:cNvPicPr>
          <p:nvPr/>
        </p:nvPicPr>
        <p:blipFill>
          <a:blip r:embed="rId4"/>
          <a:srcRect l="-1562" r="-1562" t="0" b="0"/>
          <a:stretch/>
        </p:blipFill>
        <p:spPr>
          <a:xfrm>
            <a:off x="812800" y="3657600"/>
            <a:ext cx="65484" cy="101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9884" y="3657600"/>
            <a:ext cx="492949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fact is visible, live, in a graph panel colored and de-duplicated for a human to actually read.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5969000" y="1866900"/>
            <a:ext cx="5410200" cy="3975100"/>
          </a:xfrm>
          <a:prstGeom prst="roundRect">
            <a:avLst>
              <a:gd name="adj" fmla="val 3195"/>
            </a:avLst>
          </a:prstGeom>
          <a:solidFill>
            <a:srgbClr val="1B3A54"/>
          </a:solidFill>
          <a:ln/>
        </p:spPr>
      </p:sp>
      <p:sp>
        <p:nvSpPr>
          <p:cNvPr id="13" name="Text 7"/>
          <p:cNvSpPr/>
          <p:nvPr/>
        </p:nvSpPr>
        <p:spPr>
          <a:xfrm>
            <a:off x="6197600" y="2095500"/>
            <a:ext cx="510159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F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97600" y="2406650"/>
            <a:ext cx="510159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Vossen, P., Báez Santamaría, S., &amp; Baier, T. (2024). A conversational agent for structured diary construction enabling monitoring of functioning &amp; well-being. </a:t>
            </a:r>
            <a:r>
              <a:rPr lang="en-US" sz="1200" i="1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HHAI 2024: Proceedings of the Third International Conference on Hybrid Human-Artificial Intelligence</a:t>
            </a: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(pp. 315–324). SAGE Publications.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197600" y="3587750"/>
            <a:ext cx="510159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Ntanavaras, S., de Boer, M., &amp; Vossen, P. (2026). A synthetic conversational dataset for Type 2 diabetes management. </a:t>
            </a:r>
            <a:r>
              <a:rPr lang="en-US" sz="1200" i="1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Proceedings of the Third Workshop on Patient-Oriented Language Processing (CL4Health) @ LREC 2026</a:t>
            </a: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(pp. 171–181).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197600" y="4552950"/>
            <a:ext cx="510159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Reconstructing lifestyles from conversations between Diabetes patients and a coach. </a:t>
            </a:r>
            <a:r>
              <a:rPr lang="en-US" sz="1200" i="1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LREC 2026</a:t>
            </a:r>
            <a:r>
              <a:rPr lang="en-US" sz="1200" dirty="0">
                <a:solidFill>
                  <a:srgbClr val="D7E2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(under review) — the conversational corpus and event-centric knowledge graph behind this agent's memory.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42050"/>
            <a:ext cx="33085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E93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Leolani — Knowledge-Graph-Driven Chat Agent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883106" y="6242050"/>
            <a:ext cx="54689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E93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Leolani KG-Driven Chat Agent</dc:title>
  <dc:subject>PptxGenJS Presentation</dc:subject>
  <dc:creator>PptxGenJS</dc:creator>
  <cp:lastModifiedBy>PptxGenJS</cp:lastModifiedBy>
  <cp:revision>1</cp:revision>
  <dcterms:created xsi:type="dcterms:W3CDTF">2026-09-21T15:47:09Z</dcterms:created>
  <dcterms:modified xsi:type="dcterms:W3CDTF">2026-09-21T15:47:09Z</dcterms:modified>
</cp:coreProperties>
</file>